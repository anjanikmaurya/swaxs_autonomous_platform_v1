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We built and bench-validated an autonomous flow-synthesis + in-situ SAXS platform on BL1-5; this deck walks the team through the whole pipeline and what we accomplished this beamtime.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outcomes: a working, tested, documented closed-loop platform; beamline control bench-validated; one open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apps, hub-and-spoke. Design rule: all logic in src/, apps are thin shells.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loop; the teal box (optimizer) writes a condition file the reactor watches — the closing link. recipe_id is the traceability handle.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and data live on different hosts/paths. The X:↔/msd_data mapping is why data_dir translation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idle→arming→running→flushing→ready, E-stop anywhere. App inputs are authoritative &amp; session-sticky; ramp arming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we do can crash SPEC or a running collection; control handed back cleanly; no persistent config changes (audited).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Commands mode + flat macro avoids the SPEC script-vs-interactive parsing issue and needs no shared-mount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EPICS path = SPEC-free live plot that survives collections. Adopted mid-beamtime with the engineer's PVs.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physics-audited core. For autonomy the auto-reduction monitor is the trigger — start it per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Pairing by recipe_id makes autonomous subtraction robust; auto-subtraction monitor is the unattended trigger.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silent correctness bug the readiness audit surfaced; fixed with a unit-aware analyzer +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Analyzer = fit + optimizer + writes conditions. LLM advisory, not in the control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serial command sets liquid type; FCC selection doesn't carry to our app. We correct in-app (factor or power-law table, matching paws) + flow-OK &amp; volume-limit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accomplishments slide. Six themes; each a concrete shipped change with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suite guards physics (golden regression) and safety behaviors, so refactors don't silently break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written down: setup, safety, troubleshooting, calibration, and the go/no-go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status: loop wired and each stage validated; firing collection inside a live run is the open item, plus hardening/UX items with plans.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Priorities: finish trigger, then orchestrator (removes manual steps), then confidence gate, then env/polish. Orchestrator design doc already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ready and validated, short path to fully hands-off autonomy. Thank the beamline staff.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 NATIONAL ACCELERATOR LABORATORY  ·  SSRL BEAMLINE 1-5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SWAXS Nanoparticle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flow synthesis with in-situ SAXS/WAXS — beamtime report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 PI &amp; synthesis / beamline team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 full pipeline + beamtime work, bench validation, and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and validated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hub, closed-loop pipeline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29000" y="24871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(golden pipeline + safety)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17920" y="24871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beamline links live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· temp · shutter · collect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06840" y="164592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0684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006840" y="24871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&amp; audits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setup, safety, readiness, design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566160"/>
            <a:ext cx="10911535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37490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one-paragraph version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103628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an autonomous platform that runs a flow-synthesis reactor, triggers in-situ SAXS/WAXS collection through SPEC, and feeds reduced → averaged → background-subtracted profiles to a nanoparticle-fit + Bayesian optimizer that proposes the next synthesis conditions — closing the loop.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beamtime we integrated and bench-validated the beamline control (live monitors, temperature, shutter, 2D collection), added EPICS live reads, per-pump flow calibration, and hardware workarounds, hardened safety, and produced an end-to-end readiness audit. The autonomous data path is wired; the run-time collection trigger is the remaining item under debug.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Hub-and-spoke: nine focused apps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science lives in a shared src/ package; each app is a thin Flask shell. One hub launches &amp; monitors them and shares the project folder.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29000" cy="1207008"/>
          </a:xfrm>
          <a:prstGeom prst="roundRect">
            <a:avLst>
              <a:gd name="adj" fmla="val 6818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037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:5000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Launcher, project folder, event bus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9392" y="2057400"/>
            <a:ext cx="3429000" cy="1207008"/>
          </a:xfrm>
          <a:prstGeom prst="roundRect">
            <a:avLst>
              <a:gd name="adj" fmla="val 6818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62272" y="22037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:5001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62272" y="2560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2D → 1D I(q), corrections (PyFAI)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18704" y="2057400"/>
            <a:ext cx="3429000" cy="1207008"/>
          </a:xfrm>
          <a:prstGeom prst="roundRect">
            <a:avLst>
              <a:gd name="adj" fmla="val 6818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01584" y="22037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 :5002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01584" y="2560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&amp; average repeated scans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3429000" cy="1207008"/>
          </a:xfrm>
          <a:prstGeom prst="roundRect">
            <a:avLst>
              <a:gd name="adj" fmla="val 6818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5753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:5003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 buffer; pair by recipe_id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79392" y="3429000"/>
            <a:ext cx="3429000" cy="1207008"/>
          </a:xfrm>
          <a:prstGeom prst="roundRect">
            <a:avLst>
              <a:gd name="adj" fmla="val 6818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62272" y="35753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:5004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62272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Guinier / Porod / Kratky / peaks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18704" y="3429000"/>
            <a:ext cx="3429000" cy="1207008"/>
          </a:xfrm>
          <a:prstGeom prst="roundRect">
            <a:avLst>
              <a:gd name="adj" fmla="val 6818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01584" y="35753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:5005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01584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Q&amp;A, plots, quality hints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800600"/>
            <a:ext cx="3429000" cy="1207008"/>
          </a:xfrm>
          <a:prstGeom prst="roundRect">
            <a:avLst>
              <a:gd name="adj" fmla="val 6818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49469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:5006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/ NeedsReview grading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79392" y="4800600"/>
            <a:ext cx="3429000" cy="1207008"/>
          </a:xfrm>
          <a:prstGeom prst="roundRect">
            <a:avLst>
              <a:gd name="adj" fmla="val 6818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62272" y="49469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Reactor :5007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62272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Pumps + beamline control, autopilot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18704" y="4800600"/>
            <a:ext cx="3429000" cy="1207008"/>
          </a:xfrm>
          <a:prstGeom prst="roundRect">
            <a:avLst>
              <a:gd name="adj" fmla="val 6818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01584" y="49469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 :5008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01584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 fit + Bayesian optimizer (loop brain)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2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CLOSED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autonomous cycle flows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→ run → flush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182112" y="2377440"/>
            <a:ext cx="219456" cy="228600"/>
          </a:xfrm>
          <a:prstGeom prst="rightArrow">
            <a:avLst/>
          </a:prstGeom>
          <a:solidFill>
            <a:srgbClr val="D9B7B7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0" y="192024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92024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2D collect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+ background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71032" y="2377440"/>
            <a:ext cx="219456" cy="228600"/>
          </a:xfrm>
          <a:prstGeom prst="rightArrow">
            <a:avLst/>
          </a:prstGeom>
          <a:solidFill>
            <a:srgbClr val="D9B7B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92024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92024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→ 1D I(q)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59952" y="2377440"/>
            <a:ext cx="219456" cy="228600"/>
          </a:xfrm>
          <a:prstGeom prst="rightArrow">
            <a:avLst/>
          </a:prstGeom>
          <a:solidFill>
            <a:srgbClr val="D9B7B7"/>
          </a:solidFill>
          <a:ln/>
        </p:spPr>
      </p:sp>
      <p:sp>
        <p:nvSpPr>
          <p:cNvPr id="13" name="Shape 11"/>
          <p:cNvSpPr/>
          <p:nvPr/>
        </p:nvSpPr>
        <p:spPr>
          <a:xfrm>
            <a:off x="9006840" y="192024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92024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scans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65760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 (pair by id)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182112" y="4114800"/>
            <a:ext cx="219456" cy="228600"/>
          </a:xfrm>
          <a:prstGeom prst="rightArrow">
            <a:avLst/>
          </a:prstGeom>
          <a:solidFill>
            <a:srgbClr val="D9B7B7"/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36576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29000" y="365760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/ PDI / phase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71032" y="4114800"/>
            <a:ext cx="219456" cy="228600"/>
          </a:xfrm>
          <a:prstGeom prst="rightArrow">
            <a:avLst/>
          </a:prstGeom>
          <a:solidFill>
            <a:srgbClr val="D9B7B7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36576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007C92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365760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conditions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recipe_id ties every shot to its data all the way to the next proposed recipe → full traceability &amp; sample↔background pairing.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Topology: control PC ↔ bServer ↔ SPEC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+ reactor app; USB to 5 Mitos pumps; HTTP to bServer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337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bServer (Windows)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pySSRL-bServer, 127.0.0.1:18085 — relays to SPEC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709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host (Linux)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0749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Shutter, counters, SAXS+WAXS detectors; writes /msd_data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17520" y="2971800"/>
            <a:ext cx="274320" cy="228600"/>
          </a:xfrm>
          <a:prstGeom prst="downArrow">
            <a:avLst/>
          </a:prstGeom>
          <a:solidFill>
            <a:srgbClr val="007C92"/>
          </a:solidFill>
          <a:ln/>
        </p:spPr>
      </p:sp>
      <p:sp>
        <p:nvSpPr>
          <p:cNvPr id="14" name="Shape 12"/>
          <p:cNvSpPr/>
          <p:nvPr/>
        </p:nvSpPr>
        <p:spPr>
          <a:xfrm>
            <a:off x="3017520" y="4343400"/>
            <a:ext cx="274320" cy="228600"/>
          </a:xfrm>
          <a:prstGeom prst="downArrow">
            <a:avLst/>
          </a:prstGeom>
          <a:solidFill>
            <a:srgbClr val="007C92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828800"/>
            <a:ext cx="5242255" cy="3840480"/>
          </a:xfrm>
          <a:prstGeom prst="roundRect">
            <a:avLst>
              <a:gd name="adj" fmla="val 2143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Fluidics &amp; data path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42316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Mitos P-pumps + LG16 sensors → mixer → heated reactor coil → flow cell (in beam).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commanded/read through SPEC (csettemp / CTEMP).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saves .raw to /msd_data/.../2D/{SAXS,WAXS}.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folder is the PC's X:\ mount — pipeline reads it back (Win↔Linux path map).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REACTOR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machine + arming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04872" y="2011680"/>
            <a:ext cx="164592" cy="182880"/>
          </a:xfrm>
          <a:prstGeom prst="rightArrow">
            <a:avLst/>
          </a:prstGeom>
          <a:solidFill>
            <a:srgbClr val="53565A"/>
          </a:solidFill>
          <a:ln/>
        </p:spPr>
      </p:sp>
      <p:sp>
        <p:nvSpPr>
          <p:cNvPr id="7" name="Shape 5"/>
          <p:cNvSpPr/>
          <p:nvPr/>
        </p:nvSpPr>
        <p:spPr>
          <a:xfrm>
            <a:off x="2606040" y="178308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783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2011680"/>
            <a:ext cx="164592" cy="182880"/>
          </a:xfrm>
          <a:prstGeom prst="rightArrow">
            <a:avLst/>
          </a:prstGeom>
          <a:solidFill>
            <a:srgbClr val="53565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78308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783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36792" y="2011680"/>
            <a:ext cx="164592" cy="182880"/>
          </a:xfrm>
          <a:prstGeom prst="rightArrow">
            <a:avLst/>
          </a:prstGeom>
          <a:solidFill>
            <a:srgbClr val="53565A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0" y="178308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1783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flushing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02752" y="2011680"/>
            <a:ext cx="164592" cy="182880"/>
          </a:xfrm>
          <a:prstGeom prst="rightArrow">
            <a:avLst/>
          </a:prstGeom>
          <a:solidFill>
            <a:srgbClr val="53565A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178308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03920" y="1783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5146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E-stop from any state → pumps only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" y="3127248"/>
            <a:ext cx="329184" cy="329184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34440" y="3044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Arming modes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3017520"/>
            <a:ext cx="7894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(reach &amp; hold T) or Timed wait. (Ramp mode removed per request.)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4088" y="3950208"/>
            <a:ext cx="329184" cy="329184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34440" y="3867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Cooldown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0" y="3840480"/>
            <a:ext cx="7894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csettemp → room temp the moment synthesis ends (run→flush).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4088" y="4773168"/>
            <a:ext cx="329184" cy="329184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34440" y="4690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4663440"/>
            <a:ext cx="7894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ode_flush, or a reagent pump (ode_dilution) — switchable in-app.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04088" y="5596128"/>
            <a:ext cx="329184" cy="329184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234440" y="5513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inputs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0" y="5486400"/>
            <a:ext cx="7894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values (duration, flush, exposure, keywords, data_dir) win over recipe &amp; config, and stick for the session.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BEAMLINE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control — safe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38528"/>
            <a:ext cx="329184" cy="329184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08760" y="18013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E-stop = pumps only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4880" y="1783080"/>
            <a:ext cx="6613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sends anything to the beamline; an in-progress X-ray collection is never interrupted.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871216"/>
            <a:ext cx="329184" cy="329184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08760" y="273405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SPEC guard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54880" y="2715768"/>
            <a:ext cx="6613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lock serializes SPEC; collect holds it the whole acquisition; live reads skip, never stall.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2688" y="3803904"/>
            <a:ext cx="329184" cy="329184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08760" y="366674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remote control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54880" y="3648456"/>
            <a:ext cx="6613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Acquires SPEC control before any command; releases it on app exit so staff regain control.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2688" y="4736592"/>
            <a:ext cx="329184" cy="329184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508760" y="459943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config writes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54880" y="4581144"/>
            <a:ext cx="6613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csettemp / ct / sopen-sclose / the collect macro — same commands as the group's own scripts.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422392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688" y="5669280"/>
            <a:ext cx="329184" cy="329184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08760" y="55321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Skips absent pumps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54880" y="5513832"/>
            <a:ext cx="6613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Disconnected/unused pumps (e.g. no-air ode_flush) aren't opened or polled — can't trip E-stop.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Triggering SPEC in step with the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shot is fired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shot: spec_lead seconds before the run ends.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 spec_lead before the flush ends (clean solvent in cell).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Filenames &lt;recipe_id&gt;_sample / _bkg → pairing + traceability.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'Collect now' button for a manual, guarded acquisition.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92240" y="1737360"/>
            <a:ext cx="5059375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→ SPEC (commands mode)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0" y="23317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E2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newfile → pd save → sopen →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E2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loopscan &lt;frames&gt; &lt;exposure&gt; →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E2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sclose → pd nosave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0" y="365760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Streamed line-by-line via the bServer (no shared file needed).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Flat, values-inlined macro — avoids SPEC variable-vs-interactive pitfalls.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Defaults this beamtime: 10 frames × 10 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· I0 · beamstop — via EPICS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EPICS caget (recommended)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PVs directly — independent of SPEC.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remote control, no 'ct' pulses on the shutter.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updating DURING a data collection.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address configurable (134.79.46.44:5100).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79415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 SPEC counters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read_source: spec → 'ct 0.1' refresh (else last-count values).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remote control; may pulse the shutter (sauto).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Selectable per run; EPICS chosen when the CA link is up.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&amp; CORRECTION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detector images → 1D I(q)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PyFAI azimuthal integration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poni calibration + detector masks; SAXS &amp; WAXS.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Transmission, normalization (bstop/i0/absolute), polarization.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or PDI; operator/provenance captured per file.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Auto-reduction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4572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monitor picks up new .raw and reduces in sequence.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 &amp; SUBTRACTION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Pairing sample and background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scans grouped by recipe_id + role and averaged (log-space aware).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subtraction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3429000" cy="2377440"/>
          </a:xfrm>
          <a:prstGeom prst="roundRect">
            <a:avLst>
              <a:gd name="adj" fmla="val 3462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3465576"/>
            <a:ext cx="329184" cy="329184"/>
          </a:xfrm>
          <a:prstGeom prst="ellipse">
            <a:avLst/>
          </a:prstGeom>
          <a:solidFill>
            <a:srgbClr val="007C92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by recipe_id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↔ background matched on the shared id; nearest-index fallback.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3200400"/>
            <a:ext cx="3429000" cy="2377440"/>
          </a:xfrm>
          <a:prstGeom prst="roundRect">
            <a:avLst>
              <a:gd name="adj" fmla="val 3462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3465576"/>
            <a:ext cx="329184" cy="329184"/>
          </a:xfrm>
          <a:prstGeom prst="ellipse">
            <a:avLst/>
          </a:prstGeom>
          <a:solidFill>
            <a:srgbClr val="007C92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07992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07992" y="4343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or auto high-q (drive residual → 0), with a QC verdict.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18704" y="3200400"/>
            <a:ext cx="3429000" cy="2377440"/>
          </a:xfrm>
          <a:prstGeom prst="roundRect">
            <a:avLst>
              <a:gd name="adj" fmla="val 3462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3465576"/>
            <a:ext cx="329184" cy="329184"/>
          </a:xfrm>
          <a:prstGeom prst="ellipse">
            <a:avLst/>
          </a:prstGeom>
          <a:solidFill>
            <a:srgbClr val="007C92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47304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monitor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147304" y="4343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Averaged, writes Subtracted, runs unattended.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2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ML-READY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q-grid + a unit fix that mattered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931920"/>
          </a:xfrm>
          <a:prstGeom prst="roundRect">
            <a:avLst>
              <a:gd name="adj" fmla="val 2093"/>
            </a:avLst>
          </a:prstGeom>
          <a:solidFill>
            <a:srgbClr val="3A3934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Truncate + rebin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subtracted profile → fixed grid the ML model needs.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0.03–0.6 Å⁻¹, 549 points, linear.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inputs (manual + automated tabs) for range / #points / spacing / unit.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79415" cy="3931920"/>
          </a:xfrm>
          <a:prstGeom prst="roundRect">
            <a:avLst>
              <a:gd name="adj" fmla="val 2093"/>
            </a:avLst>
          </a:prstGeom>
          <a:solidFill>
            <a:srgbClr val="4A2020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 fix   ! -&gt; ok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42316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Subtracted files are Å⁻¹, but the analyzer/optimizer work in nm⁻¹.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unfixed → sizes 10× off, optimizer chases a phantom target (silent).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analyzer detects the header unit and converts Å⁻¹→nm⁻¹ before fitting.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brain of the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Nanoparticle fit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Polydisperse-sphere form factor (Schulz / log-normal).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Guinier size, Porod invariant, mesophase indexing.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size / PDI / phase + a 0–1 confidence.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79415" cy="4023360"/>
          </a:xfrm>
          <a:prstGeom prst="roundRect">
            <a:avLst>
              <a:gd name="adj" fmla="val 2045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optimizer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numpy-only GP + Expected Improvement, Sobol cold-start.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= (size−target)² + PDI penalty; confidence-weighted.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next recipe → Conditions/ folder the reactor watches.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is advisory only (narration / QC notes) — never in the control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FLOW CALIBRATION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Water-calibrated sensors → true ODE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are water-calibrated and we bypass the Dolomite FCC, so the app corrects flow itself — plus per-pump flow-health safety.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395728"/>
            <a:ext cx="329184" cy="329184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0876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 × factor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Linear, live-editable in the app (Pump-limits card).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10312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9088" y="2395728"/>
            <a:ext cx="329184" cy="329184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9516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Flowrate table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880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Power-law fit (paws-style), config — wins over cal ×.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2688" y="4224528"/>
            <a:ext cx="329184" cy="329184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0876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Flow-OK check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709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a pump whose true flow strays from setpoint.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93192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19088" y="4224528"/>
            <a:ext cx="329184" cy="329184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9516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limit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4709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the run if a pump over-delivers.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BEAMTIME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" cy="347472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6093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Beamline bring-up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1600200"/>
            <a:ext cx="7299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live reads, temperature set/read, shutter open/close, and a real 2D collection — via standalone safe test tools.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404872"/>
            <a:ext cx="347472" cy="347472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3682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EPICS live reads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51960" y="2359152"/>
            <a:ext cx="7299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SPEC-independent caget monitoring (temp/i0/bstop) that survives collections.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63824"/>
            <a:ext cx="347472" cy="347472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127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workarounds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51960" y="3118104"/>
            <a:ext cx="7299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Flush via ode_dilution (no-air ode_flush skipped); per-pump flow calibration; low-flow limits.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22776"/>
            <a:ext cx="347472" cy="347472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22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for ML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3877056"/>
            <a:ext cx="7299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q-truncation to 0.03–0.6 Å⁻¹ / 549 pts; unit-aware analyzer fix; data_dir auto-follows the hub.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681728"/>
            <a:ext cx="347472" cy="347472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81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645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&amp; harden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51960" y="4636008"/>
            <a:ext cx="7299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ramp arming; app inputs authoritative; Python-3.9 startup fix for two apps.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440680"/>
            <a:ext cx="347472" cy="347472"/>
          </a:xfrm>
          <a:prstGeom prst="ellipse">
            <a:avLst/>
          </a:prstGeom>
          <a:solidFill>
            <a:srgbClr val="8C151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54041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&amp; readiness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51960" y="5394960"/>
            <a:ext cx="7299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autonomous-loop audit, safety audit, and an operator runbook.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and audited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2011680"/>
          </a:xfrm>
          <a:prstGeom prst="roundRect">
            <a:avLst>
              <a:gd name="adj" fmla="val 4091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11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1828800"/>
            <a:ext cx="7345375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348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4231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end-to-end pipeline regression (raw→reduce→average→subtract→analysis).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Reactor safety: E-stop pumps-only, hard SPEC guard, collection-vs-command order.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Beamline driver (mock + SPEC), EPICS read, macro streaming, collect timing.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calibration (factor + power-law), flow-OK, volume limit, pump skip.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Optimizer, nanoparticle fit, background pairing, ML truncation &amp; units.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3291840" cy="2011680"/>
          </a:xfrm>
          <a:prstGeom prst="roundRect">
            <a:avLst>
              <a:gd name="adj" fmla="val 4091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safe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persistent config / motor / file changes to the beamline — verified against the manuals &amp; code.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Handover material produced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2066544"/>
            <a:ext cx="329184" cy="329184"/>
          </a:xfrm>
          <a:prstGeom prst="ellipse">
            <a:avLst/>
          </a:prstGeom>
          <a:solidFill>
            <a:srgbClr val="007C92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63040" y="1892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run readiness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audit + go/no-go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91656" y="2066544"/>
            <a:ext cx="329184" cy="329184"/>
          </a:xfrm>
          <a:prstGeom prst="ellipse">
            <a:avLst/>
          </a:prstGeom>
          <a:solidFill>
            <a:srgbClr val="007C92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0" y="1892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run steps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runbook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5256" y="3118104"/>
            <a:ext cx="329184" cy="329184"/>
          </a:xfrm>
          <a:prstGeom prst="ellipse">
            <a:avLst/>
          </a:prstGeom>
          <a:solidFill>
            <a:srgbClr val="007C92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63040" y="2944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Beamline safety audit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send / never send to SPEC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91656" y="3118104"/>
            <a:ext cx="329184" cy="329184"/>
          </a:xfrm>
          <a:prstGeom prst="ellipse">
            <a:avLst/>
          </a:prstGeom>
          <a:solidFill>
            <a:srgbClr val="007C92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2944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Reactor map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→ file/function troubleshooting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5256" y="4169664"/>
            <a:ext cx="329184" cy="329184"/>
          </a:xfrm>
          <a:prstGeom prst="ellipse">
            <a:avLst/>
          </a:prstGeom>
          <a:solidFill>
            <a:srgbClr val="007C92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63040" y="3995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Reactor setup + hardware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+ fluidics/beamline wiring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886200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91656" y="4169664"/>
            <a:ext cx="329184" cy="329184"/>
          </a:xfrm>
          <a:prstGeom prst="ellipse">
            <a:avLst/>
          </a:prstGeom>
          <a:solidFill>
            <a:srgbClr val="007C92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49440" y="3995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flow calibration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 × factor &amp; power-law table how-to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5256" y="5221224"/>
            <a:ext cx="329184" cy="329184"/>
          </a:xfrm>
          <a:prstGeom prst="ellipse">
            <a:avLst/>
          </a:prstGeom>
          <a:solidFill>
            <a:srgbClr val="007C92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50474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Beamline testing runbook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63040" y="5394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reads/temp/shutter/collect tools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4937760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91656" y="5221224"/>
            <a:ext cx="329184" cy="329184"/>
          </a:xfrm>
          <a:prstGeom prst="ellipse">
            <a:avLst/>
          </a:prstGeom>
          <a:solidFill>
            <a:srgbClr val="007C92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49440" y="50474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Autopilot design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49440" y="5394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pipeline orchestrator (next)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left before hands-off autonomy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932688"/>
          </a:xfrm>
          <a:prstGeom prst="roundRect">
            <a:avLst>
              <a:gd name="adj" fmla="val 882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013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collection trigger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0" y="1783080"/>
            <a:ext cx="5059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Shutter &amp; collect work via the test tools; firing during a live reactor run is the current debug (backend/timing/thread path).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134295" y="198424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007C92"/>
          </a:solidFill>
          <a:ln/>
        </p:spPr>
      </p:sp>
      <p:sp>
        <p:nvSpPr>
          <p:cNvPr id="8" name="Text 6"/>
          <p:cNvSpPr/>
          <p:nvPr/>
        </p:nvSpPr>
        <p:spPr>
          <a:xfrm>
            <a:off x="10134295" y="19842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911535" cy="932688"/>
          </a:xfrm>
          <a:prstGeom prst="roundRect">
            <a:avLst>
              <a:gd name="adj" fmla="val 882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8529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 before optimizer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834640"/>
            <a:ext cx="5059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 fits every subtracted file; add a confidence/QC gate so bad subtractions can't bias the campaign.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134295" y="303580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007C92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4295" y="30358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Recommended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10911535" cy="932688"/>
          </a:xfrm>
          <a:prstGeom prst="roundRect">
            <a:avLst>
              <a:gd name="adj" fmla="val 882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9044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Run-end: measurement vs duration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886200"/>
            <a:ext cx="5059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file.averaged event can end a run before the set duration; add a toggle to run the full duration when wanted.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134295" y="408736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007C92"/>
          </a:solidFill>
          <a:ln/>
        </p:spPr>
      </p:sp>
      <p:sp>
        <p:nvSpPr>
          <p:cNvPr id="18" name="Text 16"/>
          <p:cNvSpPr/>
          <p:nvPr/>
        </p:nvSpPr>
        <p:spPr>
          <a:xfrm>
            <a:off x="10134295" y="40873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911535" cy="932688"/>
          </a:xfrm>
          <a:prstGeom prst="roundRect">
            <a:avLst>
              <a:gd name="adj" fmla="val 8824"/>
            </a:avLst>
          </a:prstGeom>
          <a:solidFill>
            <a:srgbClr val="F3F2EF"/>
          </a:solidFill>
          <a:ln w="12700">
            <a:solidFill>
              <a:srgbClr val="E3E1DC"/>
            </a:solidFill>
            <a:prstDash val="solid"/>
          </a:ln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95604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monitor starts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4937760"/>
            <a:ext cx="5059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Reduction/viewer/background monitors + campaign start by hand — the autopilot orchestrator removes this.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134295" y="513892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007C92"/>
          </a:solidFill>
          <a:ln/>
        </p:spPr>
      </p:sp>
      <p:sp>
        <p:nvSpPr>
          <p:cNvPr id="23" name="Text 21"/>
          <p:cNvSpPr/>
          <p:nvPr/>
        </p:nvSpPr>
        <p:spPr>
          <a:xfrm>
            <a:off x="10134295" y="51389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Planned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 reliable, hands-off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7190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collection trigger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0" y="1691640"/>
            <a:ext cx="6430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the run-time fire path; verify a full cycle end-to-end on the rig.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7706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Autopilot orchestrator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2743200"/>
            <a:ext cx="6430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process runs reduce→average→subtract in sequence, event-driven off the reactor; pre-flight validation + unified log.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8221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 + safe defaults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3794760"/>
            <a:ext cx="6430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feed high-confidence fits to the optimizer; make app duration authoritative when desired.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8C1515"/>
          </a:solidFill>
          <a:ln/>
          <a:effectLst>
            <a:outerShdw sx="100000" sy="100000" kx="0" ky="0" algn="bl" rotWithShape="0" blurRad="76200" dist="25400" dir="5400000">
              <a:srgbClr val="9A9A9A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8737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D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&amp; polish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4846320"/>
            <a:ext cx="6430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control PC to Python 3.12; finalize EPICS as default; official SLAC template.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2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tested, documented closed-loop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+ SAXS platform — beamline-ready.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Bench-validated beamline control · autonomous data path wired · 135 tests green.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Remaining: fire collection inside a live run, then the autopilot orchestrator.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to the BL1-5 staff and the synthesis team.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 National Accelerator Laboratory · SSRL BL1-5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2026-07-22T18:58:08Z</dcterms:created>
  <dcterms:modified xsi:type="dcterms:W3CDTF">2026-07-22T18:58:08Z</dcterms:modified>
</cp:coreProperties>
</file>